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8288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Traveling Salesman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200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BDC3C7"/>
                </a:solidFill>
              </a:defRPr>
            </a:pPr>
            <a:r>
              <a:t>Branch and Bound Algorithm — Performance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50292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7F8C8D"/>
                </a:solidFill>
              </a:defRPr>
            </a:pPr>
            <a:r>
              <a:t>Group Project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74C3C"/>
                </a:solidFill>
              </a:defRPr>
            </a:pPr>
            <a:r>
              <a:t>The Traveling Salesman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</a:defRPr>
            </a:pPr>
            <a:r>
              <a:t>Given n cities and distances between each pair, find the shortest route that visits every city exactly once and returns to the start.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</a:defRPr>
            </a:pPr>
            <a:r>
              <a:t>NP-hard combinatorial optimization problem.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</a:defRPr>
            </a:pPr>
            <a:r>
              <a:t>Real-world applications: logistics, PCB drilling, DNA sequencing, route planning.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</a:defRPr>
            </a:pPr>
            <a:r>
              <a:t>This project: Compare Brute Force, Branch &amp; Bound, and Nearest Neighbor algorithms.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74C3C"/>
                </a:solidFill>
              </a:defRPr>
            </a:pPr>
            <a:r>
              <a:t>Branch and Bound Algorithm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</a:defRPr>
            </a:pPr>
            <a:r>
              <a:t>Branching: DFS recursive exploration of partial tours.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</a:defRPr>
            </a:pPr>
            <a:r>
              <a:t>Bounding: Compute lower bound = current cost + sum of minimum outgoing edges of unvisited cities.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</a:defRPr>
            </a:pPr>
            <a:r>
              <a:t>Pruning: If lower bound &gt;= current best cost, discard the entire branch.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</a:defRPr>
            </a:pPr>
            <a:r>
              <a:t>Heuristic ordering: Visit nearest neighbors first to find good solutions early.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</a:defRPr>
            </a:pPr>
            <a:r>
              <a:t>Result: Significant reduction in search space while guaranteeing optimality.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74C3C"/>
                </a:solidFill>
              </a:defRPr>
            </a:pPr>
            <a:r>
              <a:t>Lower Bound &amp; Pruning Logic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39C12"/>
                </a:solidFill>
              </a:defRPr>
            </a:pPr>
            <a:r>
              <a:t>LB = current_path_cost + Σ min_outgoing_edge(unvisited_city_i)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</a:defRPr>
            </a:pPr>
            <a:r>
              <a:t>min_outgoing_edge(i) is the shortest edge from city i to any unvisited city (or the start city).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</a:defRPr>
            </a:pPr>
            <a:r>
              <a:t>This is an admissible heuristic: it never overestimates the true remaining cost.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</a:defRPr>
            </a:pPr>
            <a:r>
              <a:t>If LB &gt;= best_cost → prune (safe: this branch cannot yield a better solution).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</a:defRPr>
            </a:pPr>
            <a:r>
              <a:t>More aggressive pruning = smaller search space = faster runtime.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74C3C"/>
                </a:solidFill>
              </a:defRPr>
            </a:pPr>
            <a:r>
              <a:t>Experimental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</a:defRPr>
            </a:pPr>
            <a:r>
              <a:t>Random TSP instances: n = 4, 5, 6, 7, 8, 9, 10 cities.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</a:defRPr>
            </a:pPr>
            <a:r>
              <a:t>5 random instances per size (coordinates uniformly distributed in 1000x1000 grid).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</a:defRPr>
            </a:pPr>
            <a:r>
              <a:t>Three algorithms tested: Brute Force (control), Branch &amp; Bound, Nearest Neighbor.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</a:defRPr>
            </a:pPr>
            <a:r>
              <a:t>Metrics: runtime (s), visited nodes, pruned branches, pruning rate, solution quality.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</a:defRPr>
            </a:pPr>
            <a:r>
              <a:t>All tests run on identical datasets for fair comparison.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0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C3E50"/>
                </a:solidFill>
              </a:defRPr>
            </a:pPr>
            <a:r>
              <a:t>Results: Runtime vs Problem Size</a:t>
            </a:r>
          </a:p>
        </p:txBody>
      </p:sp>
      <p:pic>
        <p:nvPicPr>
          <p:cNvPr id="3" name="Picture 2" descr="runtime_by_cit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100584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0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C3E50"/>
                </a:solidFill>
              </a:defRPr>
            </a:pPr>
            <a:r>
              <a:t>Results: Search Space Reduction</a:t>
            </a:r>
          </a:p>
        </p:txBody>
      </p:sp>
      <p:pic>
        <p:nvPicPr>
          <p:cNvPr id="3" name="Picture 2" descr="nodes_by_cit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486400" cy="3657600"/>
          </a:xfrm>
          <a:prstGeom prst="rect">
            <a:avLst/>
          </a:prstGeom>
        </p:spPr>
      </p:pic>
      <p:pic>
        <p:nvPicPr>
          <p:cNvPr id="4" name="Picture 3" descr="nodes_bar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4864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0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C3E50"/>
                </a:solidFill>
              </a:defRPr>
            </a:pPr>
            <a:r>
              <a:t>Results: Pruning Efficiency</a:t>
            </a:r>
          </a:p>
        </p:txBody>
      </p:sp>
      <p:pic>
        <p:nvPicPr>
          <p:cNvPr id="3" name="Picture 2" descr="pruning_rate_by_cit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486400" cy="3657600"/>
          </a:xfrm>
          <a:prstGeom prst="rect">
            <a:avLst/>
          </a:prstGeom>
        </p:spPr>
      </p:pic>
      <p:pic>
        <p:nvPicPr>
          <p:cNvPr id="4" name="Picture 3" descr="pruned_branches_by_cit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4864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0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C3E50"/>
                </a:solidFill>
              </a:defRPr>
            </a:pPr>
            <a:r>
              <a:t>Results: Route Quality (NN vs Optimal)</a:t>
            </a:r>
          </a:p>
        </p:txBody>
      </p:sp>
      <p:pic>
        <p:nvPicPr>
          <p:cNvPr id="3" name="Picture 2" descr="qualit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9144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74C3C"/>
                </a:solidFill>
              </a:defRPr>
            </a:pPr>
            <a:r>
              <a:t>Summary: Three Algorithms Compared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</a:defRPr>
            </a:pPr>
            <a:r>
              <a:t>Brute Force — Exact baseline. Enumerates all (n-1)!/2 permutations. Guarantees optimality but O(n!). Impractical beyond n=10.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</a:defRPr>
            </a:pPr>
            <a:r>
              <a:t>Branch &amp; Bound — Exact with pruning. DFS + lower bound evaluation. Cuts branches when LB &gt;= best_cost. Optimal, far more efficient.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</a:defRPr>
            </a:pPr>
            <a:r>
              <a:t>Nearest Neighbor — Greedy heuristic. Always picks the closest unvisited city. O(n²) speed but 2–10% above optimal on average.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</a:defRPr>
            </a:pPr>
            <a:r>
              <a:t>Takeaway: B&amp;B strikes the best balance between correctness and efficiency for exact TSP solving at small to medium scale.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74C3C"/>
                </a:solidFill>
              </a:defRPr>
            </a:pPr>
            <a:r>
              <a:t>Summary: Key 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645920"/>
          <a:ext cx="105156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6400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E74C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B&amp;B Runtime</a:t>
                      </a:r>
                    </a:p>
                  </a:txBody>
                  <a:tcPr>
                    <a:solidFill>
                      <a:srgbClr val="E74C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BF Runtime</a:t>
                      </a:r>
                    </a:p>
                  </a:txBody>
                  <a:tcPr>
                    <a:solidFill>
                      <a:srgbClr val="E74C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B&amp;B Nodes</a:t>
                      </a:r>
                    </a:p>
                  </a:txBody>
                  <a:tcPr>
                    <a:solidFill>
                      <a:srgbClr val="E74C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BF Nodes</a:t>
                      </a:r>
                    </a:p>
                  </a:txBody>
                  <a:tcPr>
                    <a:solidFill>
                      <a:srgbClr val="E74C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Pruning Rate</a:t>
                      </a:r>
                    </a:p>
                  </a:txBody>
                  <a:tcPr>
                    <a:solidFill>
                      <a:srgbClr val="E74C3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0.02ms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0.006ms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DFE6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0.66ms</a:t>
                      </a:r>
                    </a:p>
                  </a:txBody>
                  <a:tcPr>
                    <a:solidFill>
                      <a:srgbClr val="DFE6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0.28ms</a:t>
                      </a:r>
                    </a:p>
                  </a:txBody>
                  <a:tcPr>
                    <a:solidFill>
                      <a:srgbClr val="DFE6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428</a:t>
                      </a:r>
                    </a:p>
                  </a:txBody>
                  <a:tcPr>
                    <a:solidFill>
                      <a:srgbClr val="DFE6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720</a:t>
                      </a:r>
                    </a:p>
                  </a:txBody>
                  <a:tcPr>
                    <a:solidFill>
                      <a:srgbClr val="DFE6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78.1%</a:t>
                      </a:r>
                    </a:p>
                  </a:txBody>
                  <a:tcPr>
                    <a:solidFill>
                      <a:srgbClr val="DFE6E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6.5ms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14.3ms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4,107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40,320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96.3%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DFE6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23ms</a:t>
                      </a:r>
                    </a:p>
                  </a:txBody>
                  <a:tcPr>
                    <a:solidFill>
                      <a:srgbClr val="DFE6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DFE6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12,472</a:t>
                      </a:r>
                    </a:p>
                  </a:txBody>
                  <a:tcPr>
                    <a:solidFill>
                      <a:srgbClr val="DFE6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1,814,400</a:t>
                      </a:r>
                    </a:p>
                  </a:txBody>
                  <a:tcPr>
                    <a:solidFill>
                      <a:srgbClr val="DFE6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98.7%</a:t>
                      </a:r>
                    </a:p>
                  </a:txBody>
                  <a:tcPr>
                    <a:solidFill>
                      <a:srgbClr val="DFE6E9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50292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7F8C8D"/>
                </a:solidFill>
              </a:defRPr>
            </a:pPr>
            <a:r>
              <a:t>Key insight: B&amp;B prunes 98.7% of search space at n=10. It becomes faster than BF from n=7 onward. For n=10, BF is infeasible (1.8M paths) while B&amp;B completes in 23ms.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74C3C"/>
                </a:solidFill>
              </a:defRPr>
            </a:pPr>
            <a:r>
              <a:t>Summary: 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</a:defRPr>
            </a:pPr>
            <a:r>
              <a:t>Branch and Bound is the best choice among these three methods when we need an exact TSP solution but also want better efficiency than simple exhaustive search.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</a:defRPr>
            </a:pPr>
            <a:r>
              <a:t>The pruning mechanism becomes more effective as problem size increases — the lower bound provides increasing value for larger instances.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</a:defRPr>
            </a:pPr>
            <a:r>
              <a:t>Nearest Neighbor is the fastest but may produce longer routes. Suitable when speed is critical and optimality can be sacrificed.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</a:defRPr>
            </a:pPr>
            <a:r>
              <a:t>Brute Force is accurate but does not scale. Its exponential growth makes it unusable beyond 10–12 cities.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</a:defRPr>
            </a:pPr>
            <a:r>
              <a:t>Limitation: B&amp;B remains exponential; for n &gt; 20 it becomes impractical. Tighter bounds (MST, Held-Karp) could improve pruning.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74C3C"/>
                </a:solidFill>
              </a:defRPr>
            </a:pPr>
            <a:r>
              <a:t>Key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</a:defRPr>
            </a:pPr>
            <a:r>
              <a:t>B&amp;B finds provably optimal solutions (same as brute force) for all tested instances.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</a:defRPr>
            </a:pPr>
            <a:r>
              <a:t>At n=10, B&amp;B prunes 98.7% of the search space — visiting only 1.3% of all possible nodes.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</a:defRPr>
            </a:pPr>
            <a:r>
              <a:t>B&amp;B is ~2.2× faster than brute force at n=9; gap widens with larger n.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</a:defRPr>
            </a:pPr>
            <a:r>
              <a:t>Nearest Neighbor runs in near-zero time but solutions are 2-10% above optimal.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</a:defRPr>
            </a:pPr>
            <a:r>
              <a:t>B&amp;B is practical for n ≤ 14; beyond that, heuristics are needed.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74C3C"/>
                </a:solidFill>
              </a:defRPr>
            </a:pPr>
            <a:r>
              <a:t>Conclusion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</a:defRPr>
            </a:pPr>
            <a:r>
              <a:t>Branch and Bound is an effective exact algorithm for small TSP instances.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</a:defRPr>
            </a:pPr>
            <a:r>
              <a:t>The minimum-edge-sum lower bound provides substantial pruning even at modest n.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</a:defRPr>
            </a:pPr>
            <a:r>
              <a:t>Future work: Compare with MST-based and Held-Karp lower bounds.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</a:defRPr>
            </a:pPr>
            <a:r>
              <a:t>Future work: Implement parallel B&amp;B for larger instances.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</a:defRPr>
            </a:pPr>
            <a:r>
              <a:t>Future work: Hybrid approaches combining B&amp;B with metaheuristics.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114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7F8C8D"/>
                </a:solidFill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